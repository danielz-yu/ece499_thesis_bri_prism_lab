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363" r:id="rId6"/>
    <p:sldId id="364" r:id="rId7"/>
    <p:sldId id="365" r:id="rId8"/>
    <p:sldId id="366" r:id="rId9"/>
    <p:sldId id="367" r:id="rId10"/>
    <p:sldId id="369" r:id="rId11"/>
    <p:sldId id="368" r:id="rId12"/>
    <p:sldId id="371" r:id="rId13"/>
    <p:sldId id="370" r:id="rId14"/>
  </p:sldIdLst>
  <p:sldSz cx="9144000" cy="5143500" type="screen16x9"/>
  <p:notesSz cx="6858000" cy="9144000"/>
  <p:custShowLst>
    <p:custShow name="Custom Show 1" id="0">
      <p:sldLst>
        <p:sld r:id="rId5"/>
      </p:sldLst>
    </p:custShow>
  </p:custShowLst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98" autoAdjust="0"/>
    <p:restoredTop sz="78727" autoAdjust="0"/>
  </p:normalViewPr>
  <p:slideViewPr>
    <p:cSldViewPr snapToGrid="0" snapToObjects="1">
      <p:cViewPr>
        <p:scale>
          <a:sx n="135" d="100"/>
          <a:sy n="135" d="100"/>
        </p:scale>
        <p:origin x="2848" y="4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150" d="100"/>
          <a:sy n="150" d="100"/>
        </p:scale>
        <p:origin x="4248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4D8C4A-F605-7741-BB0A-B2B5A7A10987}" type="datetimeFigureOut">
              <a:rPr lang="en-US" smtClean="0"/>
              <a:t>1/7/26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608438-A32C-3C4E-95A8-705D40C06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9CCCCB-ECD0-A245-88E1-563A6A7F8440}" type="datetimeFigureOut">
              <a:rPr lang="en-US" smtClean="0"/>
              <a:t>1/7/26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33661B-AF6A-944C-8681-BFAA576D415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upsidedownlabs.tech/hardware/bioamp/bioamp-exg-pill/index.html?utm_source=chatgpt.com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crowdsupply.com/upside-down-labs/bioamp-exg-pill/updates/what-is-it?utm_source=chatgpt.com" TargetMode="External"/><Relationship Id="rId4" Type="http://schemas.openxmlformats.org/officeDocument/2006/relationships/hyperlink" Target="https://www.crowdsupply.com/upside-down-labs/bioamp-exg-pill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b="1" dirty="0"/>
              <a:t>Limitations of Pediatric EEG Acquisition</a:t>
            </a:r>
            <a:endParaRPr lang="en-CA" dirty="0"/>
          </a:p>
          <a:p>
            <a:r>
              <a:rPr lang="en-CA" dirty="0"/>
              <a:t>Conventional wet EEG systems are </a:t>
            </a:r>
            <a:r>
              <a:rPr lang="en-CA" b="1" dirty="0"/>
              <a:t>impractical for pediatric and long-duration use</a:t>
            </a:r>
            <a:r>
              <a:rPr lang="en-CA" dirty="0"/>
              <a:t> due to discomfort from gel, lengthy setup, and sensitivity to motion.</a:t>
            </a:r>
          </a:p>
          <a:p>
            <a:r>
              <a:rPr lang="en-CA" dirty="0"/>
              <a:t>Textile and dry electrodes offer improved wearability, but their </a:t>
            </a:r>
            <a:r>
              <a:rPr lang="en-CA" b="1" dirty="0"/>
              <a:t>signal quality, robustness, and performance over hair remain insufficiently validated</a:t>
            </a:r>
            <a:r>
              <a:rPr lang="en-CA" dirty="0"/>
              <a:t>.</a:t>
            </a:r>
          </a:p>
          <a:p>
            <a:r>
              <a:rPr lang="en-CA" dirty="0"/>
              <a:t>There is a lack of </a:t>
            </a:r>
            <a:r>
              <a:rPr lang="en-CA" b="1" dirty="0"/>
              <a:t>standardized, repeatable validation frameworks</a:t>
            </a:r>
            <a:r>
              <a:rPr lang="en-CA" dirty="0"/>
              <a:t>—including anatomically realistic head phantoms—for comparing emerging EEG sensor materials against medical-grade gold standards.</a:t>
            </a:r>
          </a:p>
          <a:p>
            <a:r>
              <a:rPr lang="en-CA" dirty="0"/>
              <a:t>Consequently, the </a:t>
            </a:r>
            <a:r>
              <a:rPr lang="en-CA" b="1" dirty="0"/>
              <a:t>design trade-offs between comfort, manufacturability, and signal fidelity</a:t>
            </a:r>
            <a:r>
              <a:rPr lang="en-CA" dirty="0"/>
              <a:t> in pediatric EEG systems are not well understood.</a:t>
            </a:r>
          </a:p>
          <a:p>
            <a:r>
              <a:rPr lang="en-CA" b="1" dirty="0"/>
              <a:t>Core Problem:</a:t>
            </a:r>
            <a:br>
              <a:rPr lang="en-CA" dirty="0"/>
            </a:br>
            <a:r>
              <a:rPr lang="en-CA" dirty="0"/>
              <a:t>How to design and rigorously validate multichannel pediatric EEG sensors—particularly textile-based electrodes—that achieve clinically acceptable signal quality while improving usability.</a:t>
            </a:r>
          </a:p>
          <a:p>
            <a:endParaRPr lang="en-CA" dirty="0"/>
          </a:p>
          <a:p>
            <a:r>
              <a:rPr lang="en-CA" dirty="0"/>
              <a:t>Sub-objectives to explore pre-amplifier design</a:t>
            </a:r>
          </a:p>
        </p:txBody>
      </p:sp>
    </p:spTree>
    <p:extLst>
      <p:ext uri="{BB962C8B-B14F-4D97-AF65-F5344CB8AC3E}">
        <p14:creationId xmlns:p14="http://schemas.microsoft.com/office/powerpoint/2010/main" val="19212815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9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- 1.0 --&gt; Raised Height (1x density)</a:t>
            </a:r>
          </a:p>
          <a:p>
            <a:r>
              <a:rPr lang="en-CA" sz="9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- 1.1: 1 mm</a:t>
            </a:r>
          </a:p>
          <a:p>
            <a:r>
              <a:rPr lang="en-CA" sz="9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- 1.2: 2 mm</a:t>
            </a:r>
          </a:p>
          <a:p>
            <a:r>
              <a:rPr lang="en-CA" sz="9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- 1.3: 3 mm</a:t>
            </a:r>
          </a:p>
          <a:p>
            <a:r>
              <a:rPr lang="en-CA" sz="9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- 2.0 --&gt; Silver Density (2mm height)</a:t>
            </a:r>
          </a:p>
          <a:p>
            <a:r>
              <a:rPr lang="en-CA" sz="9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- 2.1: least dense (1x)</a:t>
            </a:r>
          </a:p>
          <a:p>
            <a:r>
              <a:rPr lang="en-CA" sz="9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- 2.2: moderately dense (1.5x)</a:t>
            </a:r>
          </a:p>
          <a:p>
            <a:r>
              <a:rPr lang="en-CA" sz="9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- 2.3: most dense (2x)</a:t>
            </a:r>
          </a:p>
          <a:p>
            <a:r>
              <a:rPr lang="en-CA" sz="9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- 3.0 --&gt; Area Size (1x density, 2mm height)</a:t>
            </a:r>
          </a:p>
          <a:p>
            <a:r>
              <a:rPr lang="en-CA" sz="9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- 3.1: ~0.5 x 0.5 cm</a:t>
            </a:r>
          </a:p>
          <a:p>
            <a:r>
              <a:rPr lang="en-CA" sz="9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- 3.2: ~1.0 x 1.0 cm</a:t>
            </a:r>
          </a:p>
          <a:p>
            <a:r>
              <a:rPr lang="en-CA" sz="9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- 3.3: ~2.0 x 2.0 cm</a:t>
            </a:r>
          </a:p>
          <a:p>
            <a:r>
              <a:rPr lang="en-CA" sz="9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Notes:</a:t>
            </a:r>
          </a:p>
          <a:p>
            <a:r>
              <a:rPr lang="en-CA" sz="9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All pad sizes are approximately 1.0 x 1.0 cm if not specified</a:t>
            </a:r>
          </a:p>
          <a:p>
            <a:r>
              <a:rPr lang="en-CA" sz="9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Need more precise quantitative measurables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159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Takes the </a:t>
            </a:r>
            <a:r>
              <a:rPr lang="en-CA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entire raw EEG signal</a:t>
            </a:r>
            <a:r>
              <a:rPr lang="en-CA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 each channel</a:t>
            </a:r>
          </a:p>
          <a:p>
            <a:r>
              <a:rPr lang="en-CA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Calculates the Root Mean Square (RMS): √(mean of squared values)</a:t>
            </a:r>
          </a:p>
          <a:p>
            <a:r>
              <a:rPr lang="en-CA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Converts from Volts to microvolts (×10⁶)</a:t>
            </a:r>
          </a:p>
          <a:p>
            <a:r>
              <a:rPr lang="en-CA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represents the </a:t>
            </a:r>
            <a:r>
              <a:rPr lang="en-CA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 signal power</a:t>
            </a:r>
            <a:r>
              <a:rPr lang="en-CA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across all frequencies</a:t>
            </a:r>
          </a:p>
          <a:p>
            <a:r>
              <a:rPr lang="en-CA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Applies a </a:t>
            </a:r>
            <a:r>
              <a:rPr lang="en-CA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high-pass filter at 30 Hz</a:t>
            </a:r>
            <a:r>
              <a:rPr lang="en-CA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isolate high-frequency content</a:t>
            </a:r>
          </a:p>
          <a:p>
            <a:r>
              <a:rPr lang="en-CA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rationale: EEG signals of interest (Delta, Theta, Alpha, Beta) are typically below 30 Hz</a:t>
            </a:r>
          </a:p>
          <a:p>
            <a:r>
              <a:rPr lang="en-CA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Content above 30 Hz is assumed to be primarily </a:t>
            </a:r>
            <a:r>
              <a:rPr lang="en-CA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muscle artifacts, electrical noise, and environmental interference</a:t>
            </a:r>
            <a:endParaRPr lang="en-CA" sz="9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Calculates RMS of this filtered signal as the </a:t>
            </a:r>
            <a:r>
              <a:rPr lang="en-CA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noise floor estimate</a:t>
            </a:r>
            <a:endParaRPr lang="en-CA" sz="9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9347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0139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 err="1"/>
              <a:t>BioAmp</a:t>
            </a:r>
            <a:r>
              <a:rPr lang="en-CA" dirty="0"/>
              <a:t> EXG Pill</a:t>
            </a:r>
          </a:p>
          <a:p>
            <a:r>
              <a:rPr lang="en-CA" b="1" dirty="0"/>
              <a:t>Open Source:</a:t>
            </a:r>
            <a:r>
              <a:rPr lang="en-CA" dirty="0"/>
              <a:t> Both hardware and example software freely available.</a:t>
            </a:r>
          </a:p>
          <a:p>
            <a:r>
              <a:rPr lang="en-CA" b="1" dirty="0"/>
              <a:t>Core Amplifier and Front-End Characteristics</a:t>
            </a:r>
          </a:p>
          <a:p>
            <a:r>
              <a:rPr lang="en-CA" dirty="0"/>
              <a:t>While the detailed schematic is in the open-source files, the </a:t>
            </a:r>
            <a:r>
              <a:rPr lang="en-CA" i="1" dirty="0" err="1"/>
              <a:t>BioAmp</a:t>
            </a:r>
            <a:r>
              <a:rPr lang="en-CA" i="1" dirty="0"/>
              <a:t> EXG Pill</a:t>
            </a:r>
            <a:r>
              <a:rPr lang="en-CA" dirty="0"/>
              <a:t> embeds a </a:t>
            </a:r>
            <a:r>
              <a:rPr lang="en-CA" b="1" dirty="0"/>
              <a:t>biopotential instrumentation amplifier and configurable filtering components</a:t>
            </a:r>
            <a:r>
              <a:rPr lang="en-CA" dirty="0"/>
              <a:t> which are typical of EEG preamplifier design:</a:t>
            </a:r>
          </a:p>
          <a:p>
            <a:r>
              <a:rPr lang="en-CA" b="1" dirty="0"/>
              <a:t>Input and Conditioning</a:t>
            </a:r>
          </a:p>
          <a:p>
            <a:r>
              <a:rPr lang="en-CA" b="1" dirty="0"/>
              <a:t>High input impedance:</a:t>
            </a:r>
            <a:r>
              <a:rPr lang="en-CA" dirty="0"/>
              <a:t> ~10^12 </a:t>
            </a:r>
            <a:r>
              <a:rPr lang="el-GR" dirty="0"/>
              <a:t>Ω, </a:t>
            </a:r>
            <a:r>
              <a:rPr lang="en-CA" dirty="0"/>
              <a:t>which is critical to avoid loading the microvolt-level EEG signals. </a:t>
            </a:r>
            <a:r>
              <a:rPr lang="en-CA" dirty="0">
                <a:hlinkClick r:id="rId3"/>
              </a:rPr>
              <a:t>Upside Down Labs Docs</a:t>
            </a:r>
            <a:endParaRPr lang="en-CA" dirty="0"/>
          </a:p>
          <a:p>
            <a:r>
              <a:rPr lang="en-CA" b="1" dirty="0"/>
              <a:t>Electrode configuration:</a:t>
            </a:r>
            <a:r>
              <a:rPr lang="en-CA" dirty="0"/>
              <a:t> Supports standard 3-electrode differential measurements (active, reference, ground). </a:t>
            </a:r>
            <a:r>
              <a:rPr lang="en-CA" dirty="0">
                <a:hlinkClick r:id="rId3"/>
              </a:rPr>
              <a:t>Upside Down Labs Docs</a:t>
            </a:r>
            <a:endParaRPr lang="en-CA" dirty="0"/>
          </a:p>
          <a:p>
            <a:r>
              <a:rPr lang="en-CA" b="1" dirty="0"/>
              <a:t>Bias and reference options:</a:t>
            </a:r>
            <a:r>
              <a:rPr lang="en-CA" dirty="0"/>
              <a:t> Electrode pads can be bridged to support 2-electrode modes (less ideal for EEG due to reference issues). </a:t>
            </a:r>
            <a:r>
              <a:rPr lang="en-CA" dirty="0">
                <a:hlinkClick r:id="rId3"/>
              </a:rPr>
              <a:t>Upside Down Labs Docs</a:t>
            </a:r>
            <a:endParaRPr lang="en-CA" dirty="0"/>
          </a:p>
          <a:p>
            <a:r>
              <a:rPr lang="en-CA" dirty="0"/>
              <a:t>High input impedance and differential measurement are foundational to minimizing signal attenuation and common-mode artifact pickup in EEG preamplifiers.</a:t>
            </a:r>
          </a:p>
          <a:p>
            <a:r>
              <a:rPr lang="en-CA" b="1" dirty="0"/>
              <a:t>Gain and Filtering</a:t>
            </a:r>
          </a:p>
          <a:p>
            <a:r>
              <a:rPr lang="en-CA" b="1" dirty="0"/>
              <a:t>Configurable gain:</a:t>
            </a:r>
            <a:r>
              <a:rPr lang="en-CA" dirty="0"/>
              <a:t> Set by surface-mount resistor (R6) choice on the instrumentation amplifier. </a:t>
            </a:r>
            <a:r>
              <a:rPr lang="en-CA" dirty="0">
                <a:hlinkClick r:id="rId3"/>
              </a:rPr>
              <a:t>Upside Down Labs Docs</a:t>
            </a:r>
            <a:endParaRPr lang="en-CA" dirty="0"/>
          </a:p>
          <a:p>
            <a:r>
              <a:rPr lang="en-CA" b="1" dirty="0"/>
              <a:t>Band-pass filter:</a:t>
            </a:r>
            <a:r>
              <a:rPr lang="en-CA" dirty="0"/>
              <a:t> Configurable with discrete components (e.g., R12, C5) to tailor high-pass and low-pass cutoffs. </a:t>
            </a:r>
            <a:r>
              <a:rPr lang="en-CA" dirty="0">
                <a:hlinkClick r:id="rId3"/>
              </a:rPr>
              <a:t>Upside Down Labs Docs</a:t>
            </a:r>
            <a:endParaRPr lang="en-CA" dirty="0"/>
          </a:p>
          <a:p>
            <a:pPr lvl="1"/>
            <a:r>
              <a:rPr lang="en-CA" dirty="0"/>
              <a:t>Default configuration is optimized for EEG/EOG frequency ranges (~0.5–30 Hz). </a:t>
            </a:r>
            <a:r>
              <a:rPr lang="en-CA" dirty="0">
                <a:hlinkClick r:id="rId4"/>
              </a:rPr>
              <a:t>Crowd Supply</a:t>
            </a:r>
            <a:endParaRPr lang="en-CA" dirty="0"/>
          </a:p>
          <a:p>
            <a:pPr lvl="1"/>
            <a:r>
              <a:rPr lang="en-CA" dirty="0"/>
              <a:t>Users can modify filter components to shift band limits if targeting other biopotentials (EMG, ECG). </a:t>
            </a:r>
            <a:r>
              <a:rPr lang="en-CA" dirty="0">
                <a:hlinkClick r:id="rId3"/>
              </a:rPr>
              <a:t>Upside Down Labs Docs</a:t>
            </a:r>
            <a:endParaRPr lang="en-CA" dirty="0"/>
          </a:p>
          <a:p>
            <a:r>
              <a:rPr lang="en-CA" b="1" dirty="0"/>
              <a:t>Noise rejection:</a:t>
            </a:r>
            <a:r>
              <a:rPr lang="en-CA" dirty="0"/>
              <a:t> Designed to reject mains and environmental noise through hardware filtering and amplifier design. </a:t>
            </a:r>
            <a:r>
              <a:rPr lang="en-CA" dirty="0">
                <a:hlinkClick r:id="rId5"/>
              </a:rPr>
              <a:t>Crowd Supply</a:t>
            </a:r>
            <a:endParaRPr lang="en-CA" dirty="0"/>
          </a:p>
          <a:p>
            <a:r>
              <a:rPr lang="en-CA" dirty="0"/>
              <a:t>This structure reflects a typical </a:t>
            </a:r>
            <a:r>
              <a:rPr lang="en-CA" b="1" dirty="0"/>
              <a:t>first amplification stage plus a band-limited pass</a:t>
            </a:r>
            <a:r>
              <a:rPr lang="en-CA" dirty="0"/>
              <a:t> that centers the EEG frequency content while attenuating out-of-band noise before digitization.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577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olland Bloorview Kids Rehabilitation Hospital, Bloorview Research Institut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58864" cy="51518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8264" y="841772"/>
            <a:ext cx="8060958" cy="715581"/>
          </a:xfrm>
        </p:spPr>
        <p:txBody>
          <a:bodyPr wrap="square" anchor="t" anchorCtr="0">
            <a:spAutoFit/>
          </a:bodyPr>
          <a:lstStyle>
            <a:lvl1pPr algn="l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8264" y="2680740"/>
            <a:ext cx="8060958" cy="341632"/>
          </a:xfrm>
        </p:spPr>
        <p:txBody>
          <a:bodyPr vert="horz" wrap="square" anchor="t" anchorCtr="0">
            <a:sp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69965"/>
            <a:ext cx="8100000" cy="919894"/>
          </a:xfrm>
        </p:spPr>
        <p:txBody>
          <a:bodyPr anchor="ctr" anchorCtr="0"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629841" y="1260000"/>
            <a:ext cx="8100000" cy="292608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4000" y="4463575"/>
            <a:ext cx="3367979" cy="4082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with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ecorative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 flipH="1" flipV="1">
            <a:off x="0" y="0"/>
            <a:ext cx="6083300" cy="5143500"/>
          </a:xfrm>
          <a:prstGeom prst="rect">
            <a:avLst/>
          </a:prstGeom>
        </p:spPr>
      </p:pic>
      <p:sp>
        <p:nvSpPr>
          <p:cNvPr id="8" name="Picture Placeholder 20"/>
          <p:cNvSpPr>
            <a:spLocks noGrp="1"/>
          </p:cNvSpPr>
          <p:nvPr>
            <p:ph type="pic" sz="quarter" idx="10"/>
          </p:nvPr>
        </p:nvSpPr>
        <p:spPr>
          <a:xfrm>
            <a:off x="5022508" y="736600"/>
            <a:ext cx="3670984" cy="35661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2"/>
          <p:cNvSpPr>
            <a:spLocks noGrp="1"/>
          </p:cNvSpPr>
          <p:nvPr>
            <p:ph sz="quarter" idx="11" hasCustomPrompt="1"/>
          </p:nvPr>
        </p:nvSpPr>
        <p:spPr>
          <a:xfrm>
            <a:off x="707411" y="736600"/>
            <a:ext cx="3864589" cy="3566459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buNone/>
              <a:defRPr sz="2800" b="1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Click to add text. </a:t>
            </a:r>
          </a:p>
          <a:p>
            <a:r>
              <a:rPr lang="en-US" dirty="0"/>
              <a:t>Tip: Capture attention with short, concise sentences. (max. 8-10 words).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ecorative"/>
          <p:cNvPicPr>
            <a:picLocks noChangeAspect="1"/>
          </p:cNvPicPr>
          <p:nvPr userDrawn="1"/>
        </p:nvPicPr>
        <p:blipFill rotWithShape="1">
          <a:blip r:embed="rId2" cstate="screen"/>
          <a:srcRect l="33483"/>
          <a:stretch>
            <a:fillRect/>
          </a:stretch>
        </p:blipFill>
        <p:spPr>
          <a:xfrm flipH="1" flipV="1">
            <a:off x="-1" y="-1"/>
            <a:ext cx="6083379" cy="5143500"/>
          </a:xfrm>
          <a:prstGeom prst="rect">
            <a:avLst/>
          </a:prstGeom>
        </p:spPr>
      </p:pic>
      <p:sp>
        <p:nvSpPr>
          <p:cNvPr id="5" name="Picture Placeholder 20"/>
          <p:cNvSpPr>
            <a:spLocks noGrp="1"/>
          </p:cNvSpPr>
          <p:nvPr>
            <p:ph type="pic" sz="quarter" idx="10"/>
          </p:nvPr>
        </p:nvSpPr>
        <p:spPr>
          <a:xfrm>
            <a:off x="5022508" y="736600"/>
            <a:ext cx="3670984" cy="35661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Content Placeholder 22"/>
          <p:cNvSpPr>
            <a:spLocks noGrp="1"/>
          </p:cNvSpPr>
          <p:nvPr>
            <p:ph sz="quarter" idx="11" hasCustomPrompt="1"/>
          </p:nvPr>
        </p:nvSpPr>
        <p:spPr>
          <a:xfrm>
            <a:off x="707411" y="736600"/>
            <a:ext cx="3864589" cy="3566459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buNone/>
              <a:defRPr sz="2800" b="1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Click to add text. </a:t>
            </a:r>
          </a:p>
          <a:p>
            <a:r>
              <a:rPr lang="en-US" dirty="0"/>
              <a:t>Tip: Capture attention with short, concise sentences. (max. 8-10 words).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ecorative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166948" y="927847"/>
            <a:ext cx="7020319" cy="3257145"/>
          </a:xfrm>
        </p:spPr>
        <p:txBody>
          <a:bodyPr anchor="ctr" anchorCtr="1">
            <a:noAutofit/>
          </a:bodyPr>
          <a:lstStyle>
            <a:lvl1pPr>
              <a:lnSpc>
                <a:spcPct val="1100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style. </a:t>
            </a:r>
            <a:br>
              <a:rPr lang="en-US" dirty="0"/>
            </a:br>
            <a:r>
              <a:rPr lang="en-US" dirty="0"/>
              <a:t>Use this slide to denote a new section or highlight an important message (max. 15-20 words). 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corative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166948" y="927847"/>
            <a:ext cx="7020319" cy="3257145"/>
          </a:xfrm>
        </p:spPr>
        <p:txBody>
          <a:bodyPr anchor="ctr" anchorCtr="1">
            <a:noAutofit/>
          </a:bodyPr>
          <a:lstStyle>
            <a:lvl1pPr>
              <a:lnSpc>
                <a:spcPct val="1100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style. </a:t>
            </a:r>
            <a:br>
              <a:rPr lang="en-US" dirty="0"/>
            </a:br>
            <a:r>
              <a:rPr lang="en-US" dirty="0"/>
              <a:t>Use this slide to denote a new section or highlight an important message (max. 15-20 words). 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ecorative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49480" y="1329903"/>
            <a:ext cx="7826610" cy="2483693"/>
          </a:xfrm>
        </p:spPr>
        <p:txBody>
          <a:bodyPr wrap="square" lIns="0" tIns="46800" rIns="0" anchor="ctr" anchorCtr="1">
            <a:noAutofit/>
          </a:bodyPr>
          <a:lstStyle>
            <a:lvl1pPr>
              <a:lnSpc>
                <a:spcPct val="110000"/>
              </a:lnSpc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style. </a:t>
            </a:r>
            <a:br>
              <a:rPr lang="en-US" dirty="0"/>
            </a:br>
            <a:r>
              <a:rPr lang="en-US" dirty="0"/>
              <a:t>Use this slide to denote a new section or highlight an important message (max. 15-20 words). 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6A2231-017F-A445-9722-A5E68AF48CA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8264" y="841772"/>
            <a:ext cx="8060958" cy="978729"/>
          </a:xfrm>
        </p:spPr>
        <p:txBody>
          <a:bodyPr/>
          <a:lstStyle/>
          <a:p>
            <a:pPr algn="ctr"/>
            <a:r>
              <a:rPr lang="en-US" sz="3200" dirty="0"/>
              <a:t>ECE499 </a:t>
            </a:r>
            <a:br>
              <a:rPr lang="en-US" sz="3200" dirty="0"/>
            </a:br>
            <a:r>
              <a:rPr lang="en-US" sz="3200" dirty="0"/>
              <a:t>Thesis Progress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8264" y="2224988"/>
            <a:ext cx="8060958" cy="693523"/>
          </a:xfrm>
        </p:spPr>
        <p:txBody>
          <a:bodyPr/>
          <a:lstStyle/>
          <a:p>
            <a:pPr algn="ctr"/>
            <a:r>
              <a:rPr lang="en-US" dirty="0"/>
              <a:t>Daniel Yu</a:t>
            </a:r>
          </a:p>
          <a:p>
            <a:pPr algn="ctr"/>
            <a:r>
              <a:rPr lang="en-US" dirty="0"/>
              <a:t>January 7</a:t>
            </a:r>
            <a:r>
              <a:rPr lang="en-US" baseline="30000" dirty="0"/>
              <a:t>th</a:t>
            </a:r>
            <a:r>
              <a:rPr lang="en-US" dirty="0"/>
              <a:t>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5E478-17AF-2DFC-68AF-2187F5F41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Outline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DA786-93F4-0D30-57C7-338D2113380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2400" dirty="0"/>
              <a:t>Problem Statement &amp; Objective</a:t>
            </a:r>
          </a:p>
          <a:p>
            <a:r>
              <a:rPr lang="en-US" sz="2400" dirty="0"/>
              <a:t>Methodology</a:t>
            </a:r>
          </a:p>
          <a:p>
            <a:r>
              <a:rPr lang="en-US" sz="2400" dirty="0"/>
              <a:t>Preliminary Results</a:t>
            </a:r>
          </a:p>
          <a:p>
            <a:r>
              <a:rPr lang="en-US" sz="2400" dirty="0"/>
              <a:t>Next Steps &amp; Timeline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00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47D3A-58F4-3994-6884-3F879B84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3600" dirty="0"/>
              <a:t>Problem Statement &amp; Objective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DB332-D0BE-C698-FE7A-D6DFF3DDD52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Core Problem:</a:t>
            </a:r>
          </a:p>
          <a:p>
            <a:r>
              <a:rPr lang="en-US" dirty="0"/>
              <a:t>To design and validate textile EEG electrodes that can achieve clinically acceptable signal quality while improving usability</a:t>
            </a:r>
          </a:p>
          <a:p>
            <a:endParaRPr lang="en-US" sz="1000" dirty="0"/>
          </a:p>
          <a:p>
            <a:pPr marL="0" indent="0">
              <a:buNone/>
            </a:pPr>
            <a:r>
              <a:rPr lang="en-US" b="1" dirty="0"/>
              <a:t>Current Limitations:</a:t>
            </a:r>
          </a:p>
          <a:p>
            <a:r>
              <a:rPr lang="en-US" dirty="0"/>
              <a:t>Wet EEG systems impractical for pediatric and long-duration use</a:t>
            </a:r>
          </a:p>
          <a:p>
            <a:r>
              <a:rPr lang="en-US" dirty="0"/>
              <a:t>Textile and dry electrodes remain insufficiently validated</a:t>
            </a:r>
          </a:p>
        </p:txBody>
      </p:sp>
    </p:spTree>
    <p:extLst>
      <p:ext uri="{BB962C8B-B14F-4D97-AF65-F5344CB8AC3E}">
        <p14:creationId xmlns:p14="http://schemas.microsoft.com/office/powerpoint/2010/main" val="170858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E5720-9698-7712-BAD9-4726D83CF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pic>
        <p:nvPicPr>
          <p:cNvPr id="5" name="Content Placeholder 4" descr="A group of black straps with small squares&#10;&#10;AI-generated content may be incorrect.">
            <a:extLst>
              <a:ext uri="{FF2B5EF4-FFF2-40B4-BE49-F238E27FC236}">
                <a16:creationId xmlns:a16="http://schemas.microsoft.com/office/drawing/2014/main" id="{8283F985-5B6B-0742-1642-B64B682535A6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rcRect l="5364" t="16929" b="14334"/>
          <a:stretch>
            <a:fillRect/>
          </a:stretch>
        </p:blipFill>
        <p:spPr>
          <a:xfrm>
            <a:off x="4005530" y="1404593"/>
            <a:ext cx="4724311" cy="2573518"/>
          </a:xfr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1FF8ABE-9262-2DCA-3824-43C8A9B49DC4}"/>
              </a:ext>
            </a:extLst>
          </p:cNvPr>
          <p:cNvSpPr txBox="1">
            <a:spLocks/>
          </p:cNvSpPr>
          <p:nvPr/>
        </p:nvSpPr>
        <p:spPr>
          <a:xfrm>
            <a:off x="629841" y="1260000"/>
            <a:ext cx="3375689" cy="29260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Raised Height (1.1-1.3)</a:t>
            </a:r>
          </a:p>
          <a:p>
            <a:pPr lvl="1"/>
            <a:r>
              <a:rPr lang="en-US" dirty="0"/>
              <a:t>1mm, 2mm, 3mm</a:t>
            </a:r>
          </a:p>
          <a:p>
            <a:r>
              <a:rPr lang="en-US" dirty="0"/>
              <a:t>Silver Density (2.1-2.3)</a:t>
            </a:r>
          </a:p>
          <a:p>
            <a:pPr lvl="1"/>
            <a:r>
              <a:rPr lang="en-US" dirty="0"/>
              <a:t>1x, 1.5x, 2x</a:t>
            </a:r>
          </a:p>
          <a:p>
            <a:r>
              <a:rPr lang="en-US" dirty="0"/>
              <a:t>Area Size (3.1-3.3)</a:t>
            </a:r>
          </a:p>
          <a:p>
            <a:pPr lvl="1"/>
            <a:r>
              <a:rPr lang="en-US" dirty="0"/>
              <a:t>0.5cm, 1.0cm, 2.0cm</a:t>
            </a:r>
          </a:p>
        </p:txBody>
      </p:sp>
    </p:spTree>
    <p:extLst>
      <p:ext uri="{BB962C8B-B14F-4D97-AF65-F5344CB8AC3E}">
        <p14:creationId xmlns:p14="http://schemas.microsoft.com/office/powerpoint/2010/main" val="1137538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D0652-11F0-FF0E-9204-AB3823231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9680F-2FC1-984F-9725-B53E0AFEFF1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9841" y="1260000"/>
            <a:ext cx="3942159" cy="2926081"/>
          </a:xfrm>
        </p:spPr>
        <p:txBody>
          <a:bodyPr/>
          <a:lstStyle/>
          <a:p>
            <a:r>
              <a:rPr lang="en-US" dirty="0"/>
              <a:t>Comparison between dry </a:t>
            </a:r>
            <a:r>
              <a:rPr lang="en-US" dirty="0" err="1"/>
              <a:t>BrainProduct</a:t>
            </a:r>
            <a:r>
              <a:rPr lang="en-US" dirty="0"/>
              <a:t> electrodes and textiles electrodes at Fp1 and Fp2 positions</a:t>
            </a:r>
          </a:p>
          <a:p>
            <a:r>
              <a:rPr lang="en-US" dirty="0"/>
              <a:t>EEG data acquired using </a:t>
            </a:r>
            <a:r>
              <a:rPr lang="en-US" dirty="0" err="1"/>
              <a:t>LiveAmp</a:t>
            </a:r>
            <a:r>
              <a:rPr lang="en-US" dirty="0"/>
              <a:t>, Lab Recorder, and Mindset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51DAB4-A02C-969C-D92B-E2A777A1FC94}"/>
              </a:ext>
            </a:extLst>
          </p:cNvPr>
          <p:cNvSpPr txBox="1">
            <a:spLocks/>
          </p:cNvSpPr>
          <p:nvPr/>
        </p:nvSpPr>
        <p:spPr>
          <a:xfrm>
            <a:off x="4572000" y="1260000"/>
            <a:ext cx="3942159" cy="29260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Blink Test:</a:t>
            </a:r>
          </a:p>
          <a:p>
            <a:pPr lvl="1"/>
            <a:r>
              <a:rPr lang="en-US" dirty="0"/>
              <a:t>Movement artifacts</a:t>
            </a:r>
          </a:p>
          <a:p>
            <a:pPr lvl="1"/>
            <a:r>
              <a:rPr lang="en-US" dirty="0"/>
              <a:t>~200 seconds x 10 times</a:t>
            </a:r>
          </a:p>
          <a:p>
            <a:pPr lvl="1"/>
            <a:r>
              <a:rPr lang="en-US" dirty="0"/>
              <a:t>2 seconds per blink</a:t>
            </a:r>
          </a:p>
          <a:p>
            <a:r>
              <a:rPr lang="en-US" dirty="0"/>
              <a:t>Eyes Open/Closed:</a:t>
            </a:r>
          </a:p>
          <a:p>
            <a:pPr lvl="1"/>
            <a:r>
              <a:rPr lang="en-US" dirty="0"/>
              <a:t>Alpha band </a:t>
            </a:r>
          </a:p>
          <a:p>
            <a:pPr lvl="1"/>
            <a:r>
              <a:rPr lang="en-US" dirty="0"/>
              <a:t>10 seconds open/closed x 10 times</a:t>
            </a:r>
          </a:p>
        </p:txBody>
      </p:sp>
    </p:spTree>
    <p:extLst>
      <p:ext uri="{BB962C8B-B14F-4D97-AF65-F5344CB8AC3E}">
        <p14:creationId xmlns:p14="http://schemas.microsoft.com/office/powerpoint/2010/main" val="4069281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8EF29-0717-275F-E327-B936D3ED0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Results</a:t>
            </a:r>
          </a:p>
        </p:txBody>
      </p:sp>
      <p:pic>
        <p:nvPicPr>
          <p:cNvPr id="10" name="Content Placeholder 9" descr="A graph of a sound recording&#10;&#10;AI-generated content may be incorrect.">
            <a:extLst>
              <a:ext uri="{FF2B5EF4-FFF2-40B4-BE49-F238E27FC236}">
                <a16:creationId xmlns:a16="http://schemas.microsoft.com/office/drawing/2014/main" id="{64155C6B-2794-7CAB-2914-2123074A4626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291264" y="1512275"/>
            <a:ext cx="3926408" cy="2118949"/>
          </a:xfrm>
        </p:spPr>
      </p:pic>
      <p:pic>
        <p:nvPicPr>
          <p:cNvPr id="12" name="Picture 11" descr="A screenshot of a graph&#10;&#10;AI-generated content may be incorrect.">
            <a:extLst>
              <a:ext uri="{FF2B5EF4-FFF2-40B4-BE49-F238E27FC236}">
                <a16:creationId xmlns:a16="http://schemas.microsoft.com/office/drawing/2014/main" id="{24A983ED-1839-200A-BEBE-68A11DA99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931" y="686190"/>
            <a:ext cx="4265910" cy="377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824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42023-F7A5-30E4-2EFB-B06D32EDD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Results</a:t>
            </a:r>
          </a:p>
        </p:txBody>
      </p:sp>
      <p:pic>
        <p:nvPicPr>
          <p:cNvPr id="5" name="Content Placeholder 4" descr="A graph of orange bars&#10;&#10;AI-generated content may be incorrect.">
            <a:extLst>
              <a:ext uri="{FF2B5EF4-FFF2-40B4-BE49-F238E27FC236}">
                <a16:creationId xmlns:a16="http://schemas.microsoft.com/office/drawing/2014/main" id="{5ADAA593-57BA-4E0B-0B82-1067BBBC7444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500013" y="1189859"/>
            <a:ext cx="3964147" cy="2925763"/>
          </a:xfrm>
        </p:spPr>
      </p:pic>
      <p:pic>
        <p:nvPicPr>
          <p:cNvPr id="7" name="Picture 6" descr="A graph of green bars&#10;&#10;AI-generated content may be incorrect.">
            <a:extLst>
              <a:ext uri="{FF2B5EF4-FFF2-40B4-BE49-F238E27FC236}">
                <a16:creationId xmlns:a16="http://schemas.microsoft.com/office/drawing/2014/main" id="{7F2C3AAF-7129-0DDD-D8E4-F914F5F65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9841" y="1189859"/>
            <a:ext cx="4029455" cy="292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786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C492B-B0C6-E0C2-736B-DD69EACCD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Results</a:t>
            </a:r>
          </a:p>
        </p:txBody>
      </p:sp>
      <p:pic>
        <p:nvPicPr>
          <p:cNvPr id="5" name="Content Placeholder 4" descr="A diagram of a power spectrum&#10;&#10;AI-generated content may be incorrect.">
            <a:extLst>
              <a:ext uri="{FF2B5EF4-FFF2-40B4-BE49-F238E27FC236}">
                <a16:creationId xmlns:a16="http://schemas.microsoft.com/office/drawing/2014/main" id="{58C053A5-D39D-0D6A-3D0A-EA37DB9C17C9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414160" y="1200802"/>
            <a:ext cx="3948194" cy="3195935"/>
          </a:xfrm>
        </p:spPr>
      </p:pic>
      <p:pic>
        <p:nvPicPr>
          <p:cNvPr id="7" name="Picture 6" descr="A diagram of a power spectrum&#10;&#10;AI-generated content may be incorrect.">
            <a:extLst>
              <a:ext uri="{FF2B5EF4-FFF2-40B4-BE49-F238E27FC236}">
                <a16:creationId xmlns:a16="http://schemas.microsoft.com/office/drawing/2014/main" id="{DD27CF16-7518-5F6B-12DC-A440D7D0DE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1647" y="1200802"/>
            <a:ext cx="3948194" cy="3195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445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1711C-F33D-0CF2-1EE7-CA0AA4C3A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11090-C59B-0EB6-8255-8B5062966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9840" y="1260000"/>
            <a:ext cx="4762291" cy="2926081"/>
          </a:xfrm>
        </p:spPr>
        <p:txBody>
          <a:bodyPr/>
          <a:lstStyle/>
          <a:p>
            <a:r>
              <a:rPr lang="en-US" dirty="0"/>
              <a:t>Pre-amplifier design</a:t>
            </a:r>
          </a:p>
          <a:p>
            <a:pPr lvl="1"/>
            <a:r>
              <a:rPr lang="en-US" dirty="0"/>
              <a:t>High-input impedance: 10^12 Ohms</a:t>
            </a:r>
          </a:p>
          <a:p>
            <a:pPr lvl="1"/>
            <a:r>
              <a:rPr lang="en-US" dirty="0"/>
              <a:t>Configurable gain: Set using SMD resistor</a:t>
            </a:r>
          </a:p>
          <a:p>
            <a:pPr lvl="1"/>
            <a:r>
              <a:rPr lang="en-US" dirty="0"/>
              <a:t>Band-pass filter: Set using SMD resistors for high-pass/low-pass cutoffs</a:t>
            </a:r>
          </a:p>
          <a:p>
            <a:pPr lvl="1"/>
            <a:r>
              <a:rPr lang="en-US" dirty="0"/>
              <a:t>Common-mode noise rejection</a:t>
            </a:r>
          </a:p>
          <a:p>
            <a:pPr lvl="1"/>
            <a:r>
              <a:rPr lang="en-US" dirty="0"/>
              <a:t>Operating voltage around 3.3-5V</a:t>
            </a:r>
          </a:p>
          <a:p>
            <a:pPr lvl="1"/>
            <a:r>
              <a:rPr lang="en-US" dirty="0"/>
              <a:t>Requires ADC (ADS1299x)</a:t>
            </a:r>
          </a:p>
          <a:p>
            <a:pPr lvl="1"/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04D2231-C94C-F2CC-9E4C-6104F8B68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5984" y="1489436"/>
            <a:ext cx="3493857" cy="246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4919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083FE-3B14-11EE-E562-734AAA940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6E44B-9A08-0A75-6199-89C3C190FCC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Interim Report – January 12th</a:t>
            </a:r>
          </a:p>
          <a:p>
            <a:r>
              <a:rPr lang="en-US" dirty="0"/>
              <a:t>Pre-amplifier component selection/testing – End of January/Start of February</a:t>
            </a:r>
          </a:p>
          <a:p>
            <a:r>
              <a:rPr lang="en-US" dirty="0"/>
              <a:t>Testing with prototype board against wet electrode system – Mid February/March</a:t>
            </a:r>
          </a:p>
          <a:p>
            <a:r>
              <a:rPr lang="en-US" dirty="0"/>
              <a:t>Thesis/Presentation – April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862977"/>
      </p:ext>
    </p:extLst>
  </p:cSld>
  <p:clrMapOvr>
    <a:masterClrMapping/>
  </p:clrMapOvr>
</p:sld>
</file>

<file path=ppt/theme/theme1.xml><?xml version="1.0" encoding="utf-8"?>
<a:theme xmlns:a="http://schemas.openxmlformats.org/drawingml/2006/main" name="Bloorview Research Institute">
  <a:themeElements>
    <a:clrScheme name="HB Colours 2022">
      <a:dk1>
        <a:srgbClr val="4C4C4E"/>
      </a:dk1>
      <a:lt1>
        <a:srgbClr val="FFFFFF"/>
      </a:lt1>
      <a:dk2>
        <a:srgbClr val="53BB50"/>
      </a:dk2>
      <a:lt2>
        <a:srgbClr val="F7F7F7"/>
      </a:lt2>
      <a:accent1>
        <a:srgbClr val="1979BE"/>
      </a:accent1>
      <a:accent2>
        <a:srgbClr val="90158C"/>
      </a:accent2>
      <a:accent3>
        <a:srgbClr val="F16122"/>
      </a:accent3>
      <a:accent4>
        <a:srgbClr val="469E44"/>
      </a:accent4>
      <a:accent5>
        <a:srgbClr val="34C3E0"/>
      </a:accent5>
      <a:accent6>
        <a:srgbClr val="FCAF17"/>
      </a:accent6>
      <a:hlink>
        <a:srgbClr val="1979BE"/>
      </a:hlink>
      <a:folHlink>
        <a:srgbClr val="1979BE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BA0A0D0B25F7340B50E0740B1F5E1B2" ma:contentTypeVersion="5" ma:contentTypeDescription="Create a new document." ma:contentTypeScope="" ma:versionID="72567e74d5a198fe90c2029dd818f71b">
  <xsd:schema xmlns:xsd="http://www.w3.org/2001/XMLSchema" xmlns:xs="http://www.w3.org/2001/XMLSchema" xmlns:p="http://schemas.microsoft.com/office/2006/metadata/properties" xmlns:ns3="eb2608ea-1738-47db-adb8-7307d186ab7a" targetNamespace="http://schemas.microsoft.com/office/2006/metadata/properties" ma:root="true" ma:fieldsID="e6f4f85754f184bfe71b4f109373be95" ns3:_="">
    <xsd:import namespace="eb2608ea-1738-47db-adb8-7307d186ab7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2608ea-1738-47db-adb8-7307d186ab7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b2608ea-1738-47db-adb8-7307d186ab7a" xsi:nil="true"/>
  </documentManagement>
</p:properties>
</file>

<file path=customXml/itemProps1.xml><?xml version="1.0" encoding="utf-8"?>
<ds:datastoreItem xmlns:ds="http://schemas.openxmlformats.org/officeDocument/2006/customXml" ds:itemID="{6E856AF4-7BDF-4F31-8421-6671036B59E0}">
  <ds:schemaRefs/>
</ds:datastoreItem>
</file>

<file path=customXml/itemProps2.xml><?xml version="1.0" encoding="utf-8"?>
<ds:datastoreItem xmlns:ds="http://schemas.openxmlformats.org/officeDocument/2006/customXml" ds:itemID="{5EBE3480-2ED8-44C1-9431-3D123F6CC67A}">
  <ds:schemaRefs/>
</ds:datastoreItem>
</file>

<file path=customXml/itemProps3.xml><?xml version="1.0" encoding="utf-8"?>
<ds:datastoreItem xmlns:ds="http://schemas.openxmlformats.org/officeDocument/2006/customXml" ds:itemID="{7CA0EDAC-3125-432A-965C-A5B14EB8BD1C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HB BRI Presentation Widescreen</Template>
  <TotalTime>4373</TotalTime>
  <Words>865</Words>
  <Application>Microsoft Macintosh PowerPoint</Application>
  <PresentationFormat>On-screen Show (16:9)</PresentationFormat>
  <Paragraphs>95</Paragraphs>
  <Slides>10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  <vt:variant>
        <vt:lpstr>Custom Shows</vt:lpstr>
      </vt:variant>
      <vt:variant>
        <vt:i4>1</vt:i4>
      </vt:variant>
    </vt:vector>
  </HeadingPairs>
  <TitlesOfParts>
    <vt:vector size="14" baseType="lpstr">
      <vt:lpstr>Arial</vt:lpstr>
      <vt:lpstr>Calibri</vt:lpstr>
      <vt:lpstr>Bloorview Research Institute</vt:lpstr>
      <vt:lpstr>ECE499  Thesis Progress Update</vt:lpstr>
      <vt:lpstr>Outline</vt:lpstr>
      <vt:lpstr>Problem Statement &amp; Objective</vt:lpstr>
      <vt:lpstr>Methodology</vt:lpstr>
      <vt:lpstr>Methodology</vt:lpstr>
      <vt:lpstr>Preliminary Results</vt:lpstr>
      <vt:lpstr>Preliminary Results</vt:lpstr>
      <vt:lpstr>Preliminary Results</vt:lpstr>
      <vt:lpstr>Next Steps</vt:lpstr>
      <vt:lpstr>Timeline</vt:lpstr>
      <vt:lpstr>Custom Show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Alishba Kaleem</dc:creator>
  <dc:description>June 2022</dc:description>
  <cp:lastModifiedBy>Daniel Yu</cp:lastModifiedBy>
  <cp:revision>51</cp:revision>
  <dcterms:created xsi:type="dcterms:W3CDTF">2025-06-19T13:23:00Z</dcterms:created>
  <dcterms:modified xsi:type="dcterms:W3CDTF">2026-01-07T19:52:43Z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0x010100EBA0A0D0B25F7340B50E0740B1F5E1B2</vt:lpwstr>
  </property>
  <property fmtid="{D5CDD505-2E9C-101B-9397-08002B2CF9AE}" pid="3" name="_dlc_DocIdItemGuid">
    <vt:lpwstr>d0987582-6a2f-4be4-a430-0f38588d8778</vt:lpwstr>
  </property>
  <property fmtid="{D5CDD505-2E9C-101B-9397-08002B2CF9AE}" pid="4" name="ICV">
    <vt:lpwstr>A157382D414444EAAF30E730A1A18FD1_12</vt:lpwstr>
  </property>
  <property fmtid="{D5CDD505-2E9C-101B-9397-08002B2CF9AE}" pid="5" name="KSOProductBuildVer">
    <vt:lpwstr>1033-12.2.0.21931</vt:lpwstr>
  </property>
</Properties>
</file>